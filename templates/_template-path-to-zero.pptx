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1206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41648"/>
            <a:ext cx="12191695" cy="36576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rive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420645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lus Jakarta Sans"/>
              </a:rPr>
              <a:t>{{TEAM_NAME}} — Path to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C7EC"/>
                </a:solidFill>
                <a:latin typeface="Plus Jakarta Sans"/>
              </a:rPr>
              <a:t>Critical Vulnerability 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E5F7"/>
                </a:solidFill>
                <a:latin typeface="Plus Jakarta Sans"/>
              </a:rPr>
              <a:t>Security Leadership Update  ·  {{AS_OF_DATE}}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1733"/>
                </a:solidFill>
                <a:latin typeface="Plus Jakarta Sans"/>
              </a:rPr>
              <a:t>Engineering lead: {{ENGINEERING_LEAD}}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E5570"/>
                </a:solidFill>
                <a:latin typeface="Plus Jakarta Sans"/>
              </a:rPr>
              <a:t>Q2 epics: {{EPIC_LIST}}</a:t>
            </a:r>
          </a:p>
        </p:txBody>
      </p:sp>
      <p:pic>
        <p:nvPicPr>
          <p:cNvPr id="11" name="Picture 10" descr="arrive-a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5303520"/>
            <a:ext cx="1230559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{{HEADLINE_SUBTITLE}}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51760" cy="1463040"/>
          </a:xfrm>
          <a:prstGeom prst="rect">
            <a:avLst/>
          </a:prstGeom>
          <a:solidFill>
            <a:srgbClr val="FF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>
                <a:solidFill>
                  <a:srgbClr val="5F016F"/>
                </a:solidFill>
                <a:latin typeface="Plus Jakarta Sans"/>
              </a:rPr>
              <a:t>{{STAT_PEAK}}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E5570"/>
                </a:solidFill>
                <a:latin typeface="Plus Jakarta Sans"/>
              </a:rPr>
              <a:t>Peak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463040"/>
            <a:ext cx="2651760" cy="1463040"/>
          </a:xfrm>
          <a:prstGeom prst="rect">
            <a:avLst/>
          </a:prstGeom>
          <a:solidFill>
            <a:srgbClr val="FF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60020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>
                <a:solidFill>
                  <a:srgbClr val="5F016F"/>
                </a:solidFill>
                <a:latin typeface="Plus Jakarta Sans"/>
              </a:rPr>
              <a:t>{{STAT_TODAY}}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E5570"/>
                </a:solidFill>
                <a:latin typeface="Plus Jakarta Sans"/>
              </a:rPr>
              <a:t>Today ({{AS_OF_DATE}})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2651760" cy="1463040"/>
          </a:xfrm>
          <a:prstGeom prst="rect">
            <a:avLst/>
          </a:prstGeom>
          <a:solidFill>
            <a:srgbClr val="FF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0020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>
                <a:solidFill>
                  <a:srgbClr val="5F016F"/>
                </a:solidFill>
                <a:latin typeface="Plus Jakarta Sans"/>
              </a:rPr>
              <a:t>{{STAT_SERVICES_WITH_CRITS}}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E5570"/>
                </a:solidFill>
                <a:latin typeface="Plus Jakarta Sans"/>
              </a:rPr>
              <a:t>Services with criticals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463040"/>
            <a:ext cx="2651760" cy="1463040"/>
          </a:xfrm>
          <a:prstGeom prst="rect">
            <a:avLst/>
          </a:prstGeom>
          <a:solidFill>
            <a:srgbClr val="FF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600200"/>
            <a:ext cx="26517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600" b="1">
                <a:solidFill>
                  <a:srgbClr val="5F016F"/>
                </a:solidFill>
                <a:latin typeface="Plus Jakarta Sans"/>
              </a:rPr>
              <a:t>{{STAT_SERVICES_AFTER}}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E5570"/>
                </a:solidFill>
                <a:latin typeface="Plus Jakarta Sans"/>
              </a:rPr>
              <a:t>Service after EOD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1733"/>
                </a:solidFill>
                <a:latin typeface="Plus Jakarta Sans"/>
              </a:rPr>
              <a:t>Headline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56616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C1733"/>
                </a:solidFill>
                <a:latin typeface="Plus Jakarta Sans"/>
              </a:rPr>
              <a:t>•  {{HEADLINE_BULLETS}}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Burndown — actual +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Source: status updates and security-insights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sp>
        <p:nvSpPr>
          <p:cNvPr id="7" name="BURNDOWN_PLACEHOLDER"/>
          <p:cNvSpPr/>
          <p:nvPr/>
        </p:nvSpPr>
        <p:spPr>
          <a:xfrm>
            <a:off x="365760" y="1371600"/>
            <a:ext cx="11460175" cy="4572000"/>
          </a:xfrm>
          <a:prstGeom prst="rect">
            <a:avLst/>
          </a:prstGeom>
          <a:solidFill>
            <a:srgbClr val="F9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114601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E5570"/>
                </a:solidFill>
                <a:latin typeface="Plus Jakarta Sans"/>
              </a:rPr>
              <a:t>{{BURNDOWN_PLACEHOLDER_CAPTION}}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Remaining attack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{{REMAINING_SURFACE_SUBTITLE}}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188720"/>
                <a:gridCol w="1188720"/>
                <a:gridCol w="402336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Repo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Critical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Status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{{ROW_1_REPO}}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{{ROW_1_CRITICAL}}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{{ROW_1_HIGH}}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{{ROW_1_STATUS}}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{{ROW_2_REPO}}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{{ROW_2_CRITICAL}}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{{ROW_2_HIGH}}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{{ROW_2_STATUS}}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{{ROW_3_REPO}}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{{ROW_3_CRITICAL}}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{{ROW_3_HIGH}}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{{ROW_3_STATUS}}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{{ROW_4_REPO}}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{{ROW_4_CRITICAL}}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{{ROW_4_HIGH}}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{{ROW_4_STATUS}}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{{ROW_5_REPO}}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{{ROW_5_CRITICAL}}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{{ROW_5_HIGH}}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{{ROW_5_STATUS}}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{{DEP_GRID_TITLE}}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Operational prerequisite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6017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C1733"/>
                </a:solidFill>
                <a:latin typeface="Plus Jakarta Sans"/>
              </a:rPr>
              <a:t>{{DEP_GRID_NARRATIVE}}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68880"/>
            <a:ext cx="3576218" cy="2286000"/>
          </a:xfrm>
          <a:prstGeom prst="rect">
            <a:avLst/>
          </a:prstGeom>
          <a:solidFill>
            <a:srgbClr val="FF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3576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5F016F"/>
                </a:solidFill>
                <a:latin typeface="Plus Jakarta Sans"/>
              </a:rPr>
              <a:t>{{REGION_1_NAME}}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40"/>
            <a:ext cx="3576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C1733"/>
                </a:solidFill>
                <a:latin typeface="Plus Jakarta Sans"/>
              </a:rPr>
              <a:t>{{REGION_1_STATUS}}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6298" y="2468880"/>
            <a:ext cx="3576218" cy="2286000"/>
          </a:xfrm>
          <a:prstGeom prst="rect">
            <a:avLst/>
          </a:prstGeom>
          <a:solidFill>
            <a:srgbClr val="FF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6298" y="2834640"/>
            <a:ext cx="3576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5F016F"/>
                </a:solidFill>
                <a:latin typeface="Plus Jakarta Sans"/>
              </a:rPr>
              <a:t>{{REGION_2_NAME}}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6298" y="3749040"/>
            <a:ext cx="3576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C1733"/>
                </a:solidFill>
                <a:latin typeface="Plus Jakarta Sans"/>
              </a:rPr>
              <a:t>{{REGION_2_STATUS}}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6836" y="2468880"/>
            <a:ext cx="3576218" cy="2286000"/>
          </a:xfrm>
          <a:prstGeom prst="rect">
            <a:avLst/>
          </a:prstGeom>
          <a:solidFill>
            <a:srgbClr val="FF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6836" y="2834640"/>
            <a:ext cx="3576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5F016F"/>
                </a:solidFill>
                <a:latin typeface="Plus Jakarta Sans"/>
              </a:rPr>
              <a:t>{{REGION_3_NAME}}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6836" y="3749040"/>
            <a:ext cx="35762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C1733"/>
                </a:solidFill>
                <a:latin typeface="Plus Jakarta Sans"/>
              </a:rPr>
              <a:t>{{REGION_3_STATUS}}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{{CP_SERVICE}} — critical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{{CP_STAT_LINE}}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C1733"/>
                </a:solidFill>
                <a:latin typeface="Plus Jakarta Sans"/>
              </a:rPr>
              <a:t>Why this is the critical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C1733"/>
                </a:solidFill>
                <a:latin typeface="Plus Jakarta Sans"/>
              </a:rPr>
              <a:t>•  {{CP_RATIONALE_BULLETS}}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463040"/>
            <a:ext cx="3383280" cy="4572000"/>
          </a:xfrm>
          <a:prstGeom prst="rect">
            <a:avLst/>
          </a:prstGeom>
          <a:solidFill>
            <a:srgbClr val="FFE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645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F016F"/>
                </a:solidFill>
                <a:latin typeface="Plus Jakarta Sans"/>
              </a:rPr>
              <a:t>Critical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0312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C1733"/>
                </a:solidFill>
                <a:latin typeface="Plus Jakarta Sans"/>
              </a:rPr>
              <a:t>{{CP_STAT_LINE}}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Q2 epic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Three workstreams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576218" cy="73152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576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{{EPIC_1_ID}}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576218" cy="3474720"/>
          </a:xfrm>
          <a:prstGeom prst="rect">
            <a:avLst/>
          </a:prstGeom>
          <a:solidFill>
            <a:srgbClr val="F9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33018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704AF"/>
                </a:solidFill>
                <a:latin typeface="Plus Jakarta Sans"/>
              </a:rPr>
              <a:t>{{EPIC_1_STATE}}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3018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1733"/>
                </a:solidFill>
                <a:latin typeface="Plus Jakarta Sans"/>
              </a:rPr>
              <a:t>{{EPIC_1_SUMMARY}}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554480"/>
            <a:ext cx="3576218" cy="73152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6298" y="1691640"/>
            <a:ext cx="3576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{{EPIC_2_ID}}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6298" y="2286000"/>
            <a:ext cx="3576218" cy="3474720"/>
          </a:xfrm>
          <a:prstGeom prst="rect">
            <a:avLst/>
          </a:prstGeom>
          <a:solidFill>
            <a:srgbClr val="F9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3458" y="2468880"/>
            <a:ext cx="33018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704AF"/>
                </a:solidFill>
                <a:latin typeface="Plus Jakarta Sans"/>
              </a:rPr>
              <a:t>{{EPIC_2_STATE}}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3458" y="2926080"/>
            <a:ext cx="33018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1733"/>
                </a:solidFill>
                <a:latin typeface="Plus Jakarta Sans"/>
              </a:rPr>
              <a:t>{{EPIC_2_SUMMARY}}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6836" y="1554480"/>
            <a:ext cx="3576218" cy="73152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6836" y="1691640"/>
            <a:ext cx="3576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{{EPIC_3_ID}}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6836" y="2286000"/>
            <a:ext cx="3576218" cy="3474720"/>
          </a:xfrm>
          <a:prstGeom prst="rect">
            <a:avLst/>
          </a:prstGeom>
          <a:solidFill>
            <a:srgbClr val="F9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3996" y="2468880"/>
            <a:ext cx="33018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8704AF"/>
                </a:solidFill>
                <a:latin typeface="Plus Jakarta Sans"/>
              </a:rPr>
              <a:t>{{EPIC_3_STATE}}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926080"/>
            <a:ext cx="3301898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1733"/>
                </a:solidFill>
                <a:latin typeface="Plus Jakarta Sans"/>
              </a:rPr>
              <a:t>{{EPIC_3_SUMMARY}}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Resource reallocation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Engineers reallocated from other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Engineer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From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Allocation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{{REALLOC_1_ENGINEER}}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{{REALLOC_1_FROM}}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{{REALLOC_1_TO}}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{{REALLOC_2_ENGINEER}}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{{REALLOC_2_FROM}}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{{REALLOC_2_TO}}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{{REALLOC_3_ENGINEER}}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{{REALLOC_3_FROM}}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{{REALLOC_3_TO}}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{{REALLOC_4_ENGINEER}}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{{REALLOC_4_FROM}}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{{REALLOC_4_TO}}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{{REALLOC_5_ENGINEER}}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{{REALLOC_5_FROM}}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{{REALLOC_5_TO}}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Updated Timeline to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Dated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554480"/>
          <a:ext cx="1142999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955279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Date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Milestone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Plus Jakarta Sans"/>
                        </a:rPr>
                        <a:t>Open criticals</a:t>
                      </a:r>
                    </a:p>
                  </a:txBody>
                  <a:tcPr>
                    <a:solidFill>
                      <a:srgbClr val="5F016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{{TIMELINE_1_DATE}}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{{TIMELINE_1_MILESTONE}}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{{TIMELINE_1_OPEN}}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{{TIMELINE_2_DATE}}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{{TIMELINE_2_MILESTONE}}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{{TIMELINE_2_OPEN}}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{{TIMELINE_3_DATE}}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{{TIMELINE_3_MILESTONE}}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{{TIMELINE_3_OPEN}}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{{TIMELINE_4_DATE}}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{{TIMELINE_4_MILESTONE}}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{{TIMELINE_4_OPEN}}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{{TIMELINE_5_DATE}}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{{TIMELINE_5_MILESTONE}}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{{TIMELINE_5_OPEN}}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{{TIMELINE_6_DATE}}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{{TIMELINE_6_MILESTONE}}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{{TIMELINE_6_OPEN}}</a:t>
                      </a:r>
                    </a:p>
                  </a:txBody>
                  <a:tcPr>
                    <a:solidFill>
                      <a:srgbClr val="F9F5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{{TIMELINE_7_DATE}}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{{TIMELINE_7_MILESTONE}}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1733"/>
                          </a:solidFill>
                          <a:latin typeface="Plus Jakarta Sans"/>
                        </a:rPr>
                        <a:t>{{TIMELINE_7_OPEN}}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FFA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60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lus Jakarta Sans"/>
              </a:rPr>
              <a:t>What we need from Security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1460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E5F7"/>
                </a:solidFill>
                <a:latin typeface="Plus Jakarta Sans"/>
              </a:rPr>
              <a:t>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172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E5570"/>
                </a:solidFill>
                <a:latin typeface="Plus Jakarta Sans"/>
              </a:rPr>
              <a:t>{{TEAM_NAME}}  ·  {{AS_OF_DATE}}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914400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lus Jakarta Sans"/>
              </a:rPr>
              <a:t>{{ASK_1_NUM}}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554480"/>
            <a:ext cx="10454335" cy="1005840"/>
          </a:xfrm>
          <a:prstGeom prst="rect">
            <a:avLst/>
          </a:prstGeom>
          <a:solidFill>
            <a:srgbClr val="F9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64592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F016F"/>
                </a:solidFill>
                <a:latin typeface="Plus Jakarta Sans"/>
              </a:rPr>
              <a:t>{{ASK_1_TITLE}}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1168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1733"/>
                </a:solidFill>
                <a:latin typeface="Plus Jakarta Sans"/>
              </a:rPr>
              <a:t>{{ASK_1_BODY}}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914400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lus Jakarta Sans"/>
              </a:rPr>
              <a:t>{{ASK_2_NUM}}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743200"/>
            <a:ext cx="10454335" cy="1005840"/>
          </a:xfrm>
          <a:prstGeom prst="rect">
            <a:avLst/>
          </a:prstGeom>
          <a:solidFill>
            <a:srgbClr val="F9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83464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F016F"/>
                </a:solidFill>
                <a:latin typeface="Plus Jakarta Sans"/>
              </a:rPr>
              <a:t>{{ASK_2_TITLE}}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040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1733"/>
                </a:solidFill>
                <a:latin typeface="Plus Jakarta Sans"/>
              </a:rPr>
              <a:t>{{ASK_2_BODY}}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914400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31920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lus Jakarta Sans"/>
              </a:rPr>
              <a:t>{{ASK_3_NUM}}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931920"/>
            <a:ext cx="10454335" cy="1005840"/>
          </a:xfrm>
          <a:prstGeom prst="rect">
            <a:avLst/>
          </a:prstGeom>
          <a:solidFill>
            <a:srgbClr val="F9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02336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F016F"/>
                </a:solidFill>
                <a:latin typeface="Plus Jakarta Sans"/>
              </a:rPr>
              <a:t>{{ASK_3_TITLE}}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8912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1733"/>
                </a:solidFill>
                <a:latin typeface="Plus Jakarta Sans"/>
              </a:rPr>
              <a:t>{{ASK_3_BODY}}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914400" cy="10058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20640"/>
            <a:ext cx="9144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lus Jakarta Sans"/>
              </a:rPr>
              <a:t>{{ASK_4_NUM}}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120640"/>
            <a:ext cx="10454335" cy="1005840"/>
          </a:xfrm>
          <a:prstGeom prst="rect">
            <a:avLst/>
          </a:prstGeom>
          <a:solidFill>
            <a:srgbClr val="F9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212080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F016F"/>
                </a:solidFill>
                <a:latin typeface="Plus Jakarta Sans"/>
              </a:rPr>
              <a:t>{{ASK_4_TITLE}}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577840"/>
            <a:ext cx="102714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C1733"/>
                </a:solidFill>
                <a:latin typeface="Plus Jakarta Sans"/>
              </a:rPr>
              <a:t>{{ASK_4_BODY}}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5F0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56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lus Jakarta Sans"/>
              </a:rPr>
              <a:t>{{FOOTER_TEAM}}  ·  Path to Zero  ·  {{FOOTER_DATE}}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55624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Plus Jakarta Sans"/>
              </a:rPr>
              <a:t>Confidential  ·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